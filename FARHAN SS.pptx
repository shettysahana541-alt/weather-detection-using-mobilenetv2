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5"/>
  </p:notesMasterIdLst>
  <p:sldIdLst>
    <p:sldId id="483" r:id="rId2"/>
    <p:sldId id="484" r:id="rId3"/>
    <p:sldId id="470" r:id="rId4"/>
    <p:sldId id="488" r:id="rId5"/>
    <p:sldId id="478" r:id="rId6"/>
    <p:sldId id="482" r:id="rId7"/>
    <p:sldId id="486" r:id="rId8"/>
    <p:sldId id="489" r:id="rId9"/>
    <p:sldId id="490" r:id="rId10"/>
    <p:sldId id="485" r:id="rId11"/>
    <p:sldId id="487" r:id="rId12"/>
    <p:sldId id="473" r:id="rId13"/>
    <p:sldId id="468" r:id="rId14"/>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81" autoAdjust="0"/>
    <p:restoredTop sz="94434" autoAdjust="0"/>
  </p:normalViewPr>
  <p:slideViewPr>
    <p:cSldViewPr snapToGrid="0">
      <p:cViewPr varScale="1">
        <p:scale>
          <a:sx n="114" d="100"/>
          <a:sy n="114" d="100"/>
        </p:scale>
        <p:origin x="784" y="168"/>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8/6/26</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9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34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8/6/26</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8/6/26</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8/6/26</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8/6/26</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8/6/26</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8/6/26</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8/6/26</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8/6/26</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8/6/26</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8/6/26</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8/6/26</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8/6/26</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a:t>
            </a:r>
            <a:r>
              <a:rPr lang="en-GB" sz="2000" b="1" i="0" u="none" strike="noStrike" cap="none" dirty="0">
                <a:solidFill>
                  <a:schemeClr val="accent2"/>
                </a:solidFill>
                <a:latin typeface="Cambria" panose="02040503050406030204" pitchFamily="18" charset="0"/>
                <a:ea typeface="Cambria" panose="02040503050406030204" pitchFamily="18" charset="0"/>
                <a:cs typeface="Verdana"/>
                <a:sym typeface="Verdana"/>
              </a:rPr>
              <a:t>Supervision</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86072" y="4088074"/>
            <a:ext cx="1200987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accent1"/>
                </a:solidFill>
                <a:latin typeface="Cambria" panose="02040503050406030204" pitchFamily="18" charset="0"/>
                <a:ea typeface="Cambria" panose="02040503050406030204" pitchFamily="18" charset="0"/>
                <a:cs typeface="Verdana"/>
                <a:sym typeface="Verdana"/>
              </a:rPr>
              <a:t>COMPUTER SCIENCE AND NETWORKS</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DR.PALLAVI</a:t>
            </a:r>
          </a:p>
          <a:p>
            <a:pPr lvl="0">
              <a:spcBef>
                <a:spcPts val="0"/>
              </a:spcBef>
              <a:spcAft>
                <a:spcPts val="0"/>
              </a:spcAft>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Saptarsi</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Sanyal</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Coordinators: </a:t>
            </a:r>
            <a:r>
              <a:rPr lang="en-US" sz="2000" b="1" dirty="0">
                <a:latin typeface="Cambria" panose="02040503050406030204" pitchFamily="18" charset="0"/>
                <a:ea typeface="Cambria" panose="02040503050406030204" pitchFamily="18" charset="0"/>
                <a:cs typeface="Verdana"/>
                <a:sym typeface="Verdana"/>
              </a:rPr>
              <a:t>Dr. Bhuvaneshwari Patil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589821"/>
            <a:ext cx="10515600" cy="11008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CSE7000 - INTERNSHIP</a:t>
            </a:r>
            <a:br>
              <a:rPr lang="en-IN" dirty="0">
                <a:solidFill>
                  <a:srgbClr val="FF0000"/>
                </a:solidFill>
                <a:latin typeface="Times New Roman" panose="02020603050405020304" pitchFamily="18" charset="0"/>
                <a:cs typeface="Times New Roman" panose="02020603050405020304" pitchFamily="18" charset="0"/>
              </a:rPr>
            </a:br>
            <a:r>
              <a:rPr lang="en-IN" dirty="0">
                <a:solidFill>
                  <a:srgbClr val="FF0000"/>
                </a:solidFill>
                <a:latin typeface="Times New Roman" panose="02020603050405020304" pitchFamily="18" charset="0"/>
                <a:cs typeface="Times New Roman" panose="02020603050405020304" pitchFamily="18" charset="0"/>
              </a:rPr>
              <a:t>A Presentation on</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IN" sz="2400" dirty="0"/>
              <a:t>AI-Based Weather Detection Using MobileNetV2 Transfer Learning</a:t>
            </a:r>
          </a:p>
          <a:p>
            <a:pPr algn="ct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47574314"/>
              </p:ext>
            </p:extLst>
          </p:nvPr>
        </p:nvGraphicFramePr>
        <p:xfrm>
          <a:off x="601909" y="1911875"/>
          <a:ext cx="4884491"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513221">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SAHANA SHETTY</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20241CSN0019</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5CSN01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90239800"/>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78759" y="762138"/>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Methodology Used / Course Description</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Results (Optional)</a:t>
            </a:r>
            <a:endParaRPr lang="en-IN"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Cambria" panose="02040503050406030204" pitchFamily="18" charset="0"/>
                <a:ea typeface="Cambria" panose="02040503050406030204" pitchFamily="18" charset="0"/>
                <a:cs typeface="Times New Roman" panose="02020603050405020304" pitchFamily="18" charset="0"/>
              </a:rPr>
              <a:t>Conclusion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648573"/>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24468"/>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535260"/>
            <a:ext cx="10515600" cy="5207618"/>
          </a:xfrm>
        </p:spPr>
        <p:txBody>
          <a:bodyPr/>
          <a:lstStyle/>
          <a:p>
            <a:r>
              <a:rPr lang="en-IN" sz="1600" b="1" dirty="0"/>
              <a:t>Presidency University – School of Artificial Intelligence and Advanced Computing (SAIAC)</a:t>
            </a:r>
          </a:p>
          <a:p>
            <a:r>
              <a:rPr lang="en-IN" sz="1600" dirty="0"/>
              <a:t>The </a:t>
            </a:r>
            <a:r>
              <a:rPr lang="en-IN" sz="1600" b="1" dirty="0"/>
              <a:t>School of Artificial Intelligence and Advanced Computing (SAIAC)</a:t>
            </a:r>
            <a:r>
              <a:rPr lang="en-IN" sz="1600" dirty="0"/>
              <a:t> at Presidency University is a specialized academic division focused on Artificial Intelligence, Machine Learning, Deep Learning, Data Science, High Performance Computing, and emerging technologies. The school aims to bridge the gap between academic learning and industry requirements by providing students with practical exposure through workshops, internships, research activities, and industry collaborations.</a:t>
            </a:r>
          </a:p>
          <a:p>
            <a:r>
              <a:rPr lang="en-IN" sz="1600" dirty="0"/>
              <a:t>To prepare students for future careers in AI, the school organizes specialized internship programs, hands-on training sessions, and industry-oriented projects in collaboration with globally recognized technology companies.</a:t>
            </a:r>
          </a:p>
          <a:p>
            <a:r>
              <a:rPr lang="en-IN" sz="1600" b="1" dirty="0"/>
              <a:t>Major Areas of Work</a:t>
            </a:r>
          </a:p>
          <a:p>
            <a:r>
              <a:rPr lang="en-IN" sz="1600" dirty="0"/>
              <a:t>Artificial Intelligence </a:t>
            </a:r>
          </a:p>
          <a:p>
            <a:r>
              <a:rPr lang="en-IN" sz="1600" dirty="0"/>
              <a:t>Machine Learning </a:t>
            </a:r>
          </a:p>
          <a:p>
            <a:r>
              <a:rPr lang="en-IN" sz="1600" dirty="0"/>
              <a:t>Deep Learning </a:t>
            </a:r>
          </a:p>
          <a:p>
            <a:r>
              <a:rPr lang="en-IN" sz="1200" dirty="0"/>
              <a:t>Computer Vision </a:t>
            </a:r>
          </a:p>
          <a:p>
            <a:r>
              <a:rPr lang="en-IN" sz="1200" dirty="0"/>
              <a:t>Data Science </a:t>
            </a:r>
          </a:p>
          <a:p>
            <a:r>
              <a:rPr lang="en-IN" sz="1200" dirty="0"/>
              <a:t>High Performance Computing </a:t>
            </a:r>
          </a:p>
          <a:p>
            <a:r>
              <a:rPr lang="en-IN" sz="1200" dirty="0"/>
              <a:t>GPU Accelerated Computing </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82B65-D079-774E-9E86-FC2ED7B29556}"/>
              </a:ext>
            </a:extLst>
          </p:cNvPr>
          <p:cNvSpPr>
            <a:spLocks noGrp="1"/>
          </p:cNvSpPr>
          <p:nvPr>
            <p:ph type="title"/>
          </p:nvPr>
        </p:nvSpPr>
        <p:spPr>
          <a:xfrm>
            <a:off x="838200" y="178419"/>
            <a:ext cx="10515600" cy="892097"/>
          </a:xfrm>
        </p:spPr>
        <p:txBody>
          <a:bodyPr/>
          <a:lstStyle/>
          <a:p>
            <a:r>
              <a:rPr lang="en-IN" b="1" dirty="0"/>
              <a:t>Products, Services and Industry Collaboration</a:t>
            </a:r>
            <a:br>
              <a:rPr lang="en-IN" b="1" dirty="0"/>
            </a:br>
            <a:endParaRPr lang="en-US" dirty="0"/>
          </a:p>
        </p:txBody>
      </p:sp>
      <p:sp>
        <p:nvSpPr>
          <p:cNvPr id="3" name="Content Placeholder 2">
            <a:extLst>
              <a:ext uri="{FF2B5EF4-FFF2-40B4-BE49-F238E27FC236}">
                <a16:creationId xmlns:a16="http://schemas.microsoft.com/office/drawing/2014/main" id="{83F466DE-6CDE-0240-A07C-BBC1168D80BA}"/>
              </a:ext>
            </a:extLst>
          </p:cNvPr>
          <p:cNvSpPr>
            <a:spLocks noGrp="1"/>
          </p:cNvSpPr>
          <p:nvPr>
            <p:ph idx="1"/>
          </p:nvPr>
        </p:nvSpPr>
        <p:spPr>
          <a:xfrm>
            <a:off x="838200" y="646771"/>
            <a:ext cx="10515600" cy="5530192"/>
          </a:xfrm>
        </p:spPr>
        <p:txBody>
          <a:bodyPr/>
          <a:lstStyle/>
          <a:p>
            <a:r>
              <a:rPr lang="en-IN" sz="1200" b="1" dirty="0"/>
              <a:t>NVIDIA Accelerated AI Centre of Excellence</a:t>
            </a:r>
          </a:p>
          <a:p>
            <a:r>
              <a:rPr lang="en-IN" sz="1200" dirty="0"/>
              <a:t>The internship was conducted in collaboration with the </a:t>
            </a:r>
            <a:r>
              <a:rPr lang="en-IN" sz="1200" b="1" dirty="0"/>
              <a:t>NVIDIA Accelerated AI Centre of Excellence</a:t>
            </a:r>
            <a:r>
              <a:rPr lang="en-IN" sz="1200" dirty="0"/>
              <a:t>, providing students with hands-on experience in GPU computing and Artificial Intelligence applications.</a:t>
            </a:r>
          </a:p>
          <a:p>
            <a:r>
              <a:rPr lang="en-IN" sz="1200" b="1" dirty="0"/>
              <a:t>Products and Technologies</a:t>
            </a:r>
          </a:p>
          <a:p>
            <a:r>
              <a:rPr lang="en-IN" sz="1200" dirty="0"/>
              <a:t>NVIDIA GPU Computing Platform </a:t>
            </a:r>
          </a:p>
          <a:p>
            <a:r>
              <a:rPr lang="en-IN" sz="1200" dirty="0"/>
              <a:t>CUDA Programming Platform </a:t>
            </a:r>
          </a:p>
          <a:p>
            <a:r>
              <a:rPr lang="en-IN" sz="1200" dirty="0" err="1"/>
              <a:t>TensorRT</a:t>
            </a:r>
            <a:r>
              <a:rPr lang="en-IN" sz="1200" dirty="0"/>
              <a:t> </a:t>
            </a:r>
          </a:p>
          <a:p>
            <a:r>
              <a:rPr lang="en-IN" sz="1200" dirty="0"/>
              <a:t>TensorFlow </a:t>
            </a:r>
          </a:p>
          <a:p>
            <a:r>
              <a:rPr lang="en-IN" sz="1200" dirty="0" err="1"/>
              <a:t>PyTorch</a:t>
            </a:r>
            <a:r>
              <a:rPr lang="en-IN" sz="1200" dirty="0"/>
              <a:t> </a:t>
            </a:r>
          </a:p>
          <a:p>
            <a:r>
              <a:rPr lang="en-IN" sz="1200" dirty="0"/>
              <a:t>AI Development Frameworks </a:t>
            </a:r>
          </a:p>
          <a:p>
            <a:r>
              <a:rPr lang="en-IN" sz="1200" dirty="0"/>
              <a:t>High Performance Computing (HPC) </a:t>
            </a:r>
          </a:p>
          <a:p>
            <a:r>
              <a:rPr lang="en-IN" sz="1200" b="1" dirty="0"/>
              <a:t>Industry Domains Served</a:t>
            </a:r>
          </a:p>
          <a:p>
            <a:r>
              <a:rPr lang="en-IN" sz="1200" dirty="0"/>
              <a:t>Artificial Intelligence </a:t>
            </a:r>
          </a:p>
          <a:p>
            <a:r>
              <a:rPr lang="en-IN" sz="1200" dirty="0"/>
              <a:t>Healthcare </a:t>
            </a:r>
          </a:p>
          <a:p>
            <a:r>
              <a:rPr lang="en-IN" sz="1200" dirty="0"/>
              <a:t>Robotics </a:t>
            </a:r>
          </a:p>
          <a:p>
            <a:r>
              <a:rPr lang="en-IN" sz="1200" dirty="0"/>
              <a:t>Autonomous Vehicles </a:t>
            </a:r>
          </a:p>
          <a:p>
            <a:endParaRPr lang="en-US" dirty="0"/>
          </a:p>
        </p:txBody>
      </p:sp>
      <p:sp>
        <p:nvSpPr>
          <p:cNvPr id="4" name="Slide Number Placeholder 3">
            <a:extLst>
              <a:ext uri="{FF2B5EF4-FFF2-40B4-BE49-F238E27FC236}">
                <a16:creationId xmlns:a16="http://schemas.microsoft.com/office/drawing/2014/main" id="{9F7487E1-2559-9642-ADEA-2CDDC603F5D1}"/>
              </a:ext>
            </a:extLst>
          </p:cNvPr>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3439852249"/>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80584"/>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635620"/>
            <a:ext cx="10515600" cy="4683512"/>
          </a:xfrm>
        </p:spPr>
        <p:txBody>
          <a:bodyPr/>
          <a:lstStyle/>
          <a:p>
            <a:r>
              <a:rPr lang="en-IN" sz="1200" b="1" dirty="0"/>
              <a:t>Assigned Domain</a:t>
            </a:r>
          </a:p>
          <a:p>
            <a:r>
              <a:rPr lang="en-IN" sz="1200" dirty="0"/>
              <a:t>Artificial Intelligence (AI) </a:t>
            </a:r>
          </a:p>
          <a:p>
            <a:r>
              <a:rPr lang="en-IN" sz="1200" dirty="0"/>
              <a:t>Deep Learning </a:t>
            </a:r>
          </a:p>
          <a:p>
            <a:r>
              <a:rPr lang="en-IN" sz="1200" dirty="0"/>
              <a:t>Computer Vision </a:t>
            </a:r>
          </a:p>
          <a:p>
            <a:r>
              <a:rPr lang="en-IN" sz="1200" dirty="0"/>
              <a:t>Image Classification</a:t>
            </a:r>
          </a:p>
          <a:p>
            <a:pPr marL="0" indent="0">
              <a:buNone/>
            </a:pPr>
            <a:r>
              <a:rPr lang="en-IN" dirty="0">
                <a:latin typeface="Times New Roman" panose="02020603050405020304" pitchFamily="18" charset="0"/>
                <a:cs typeface="Times New Roman" panose="02020603050405020304" pitchFamily="18" charset="0"/>
              </a:rPr>
              <a:t> </a:t>
            </a:r>
            <a:r>
              <a:rPr lang="en-IN" sz="1200" b="1" dirty="0"/>
              <a:t>Technology Used</a:t>
            </a:r>
          </a:p>
          <a:p>
            <a:r>
              <a:rPr lang="en-IN" sz="1200" dirty="0"/>
              <a:t>MobileNetV2 (Transfer Learning) </a:t>
            </a:r>
          </a:p>
          <a:p>
            <a:r>
              <a:rPr lang="en-IN" sz="1200" dirty="0"/>
              <a:t>TensorFlow &amp; </a:t>
            </a:r>
            <a:r>
              <a:rPr lang="en-IN" sz="1200" dirty="0" err="1"/>
              <a:t>Keras</a:t>
            </a:r>
            <a:r>
              <a:rPr lang="en-IN" sz="1200" dirty="0"/>
              <a:t> </a:t>
            </a:r>
          </a:p>
          <a:p>
            <a:r>
              <a:rPr lang="en-IN" sz="1200" dirty="0"/>
              <a:t>Python </a:t>
            </a:r>
          </a:p>
          <a:p>
            <a:r>
              <a:rPr lang="en-IN" sz="1200" dirty="0"/>
              <a:t>Google </a:t>
            </a:r>
            <a:r>
              <a:rPr lang="en-IN" sz="1200" dirty="0" err="1"/>
              <a:t>Colab</a:t>
            </a:r>
            <a:endParaRPr lang="en-IN" sz="1200" dirty="0"/>
          </a:p>
          <a:p>
            <a:r>
              <a:rPr lang="en-IN" sz="1200" b="1" dirty="0"/>
              <a:t>Features</a:t>
            </a:r>
          </a:p>
          <a:p>
            <a:r>
              <a:rPr lang="en-IN" sz="1200" dirty="0"/>
              <a:t>Lightweight CNN architecture </a:t>
            </a:r>
          </a:p>
          <a:p>
            <a:r>
              <a:rPr lang="en-IN" sz="1200" dirty="0"/>
              <a:t>Fast training and prediction </a:t>
            </a:r>
          </a:p>
          <a:p>
            <a:r>
              <a:rPr lang="en-IN" sz="1200" dirty="0"/>
              <a:t>High accuracy </a:t>
            </a:r>
          </a:p>
          <a:p>
            <a:r>
              <a:rPr lang="en-IN" sz="1200" dirty="0"/>
              <a:t>Low computational cost </a:t>
            </a:r>
          </a:p>
          <a:p>
            <a:endParaRPr lang="en-IN" sz="1200" dirty="0"/>
          </a:p>
          <a:p>
            <a:pPr marL="1828800" lvl="4"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103887700"/>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pPr algn="just"/>
            <a:r>
              <a:rPr lang="en-IN" dirty="0"/>
              <a:t>To develop an AI-based weather detection system using Deep Learning techniques. To accurately classify weather images into </a:t>
            </a:r>
            <a:r>
              <a:rPr lang="en-IN" b="1" dirty="0"/>
              <a:t>Cloud, Rain, Shine, and Sunrise</a:t>
            </a:r>
            <a:r>
              <a:rPr lang="en-IN" dirty="0"/>
              <a:t> categories. To implement </a:t>
            </a:r>
            <a:r>
              <a:rPr lang="en-IN" b="1" dirty="0"/>
              <a:t>Transfer Learning</a:t>
            </a:r>
            <a:r>
              <a:rPr lang="en-IN" dirty="0"/>
              <a:t> using the MobileNetV2 model for improved performance. To reduce manual weather image analysis through automated prediction. To provide a fast, accurate, and user-friendly weather classification system. To demonstrate the practical application of Artificial Intelligence in image recognition and weather monitoring.</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3432951823"/>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Methodology Used </a:t>
            </a:r>
          </a:p>
        </p:txBody>
      </p:sp>
      <p:sp>
        <p:nvSpPr>
          <p:cNvPr id="3" name="Content Placeholder 2"/>
          <p:cNvSpPr>
            <a:spLocks noGrp="1"/>
          </p:cNvSpPr>
          <p:nvPr>
            <p:ph idx="1"/>
          </p:nvPr>
        </p:nvSpPr>
        <p:spPr>
          <a:xfrm>
            <a:off x="838200" y="1184367"/>
            <a:ext cx="10515600" cy="4058194"/>
          </a:xfrm>
        </p:spPr>
        <p:txBody>
          <a:bodyPr/>
          <a:lstStyle/>
          <a:p>
            <a:r>
              <a:rPr lang="en-IN" sz="1800" b="1" dirty="0"/>
              <a:t>Project Methodology</a:t>
            </a:r>
          </a:p>
          <a:p>
            <a:r>
              <a:rPr lang="en-IN" sz="1800" dirty="0"/>
              <a:t>The Weather Detection System was developed using a systematic deep learning approach. The complete workflow includes data collection, </a:t>
            </a:r>
            <a:r>
              <a:rPr lang="en-IN" sz="1800" dirty="0" err="1"/>
              <a:t>preprocessing</a:t>
            </a:r>
            <a:r>
              <a:rPr lang="en-IN" sz="1800" dirty="0"/>
              <a:t>, model development, training, evaluation, and prediction.</a:t>
            </a:r>
          </a:p>
          <a:p>
            <a:r>
              <a:rPr lang="en-IN" sz="1800" b="1" dirty="0"/>
              <a:t>Workflow</a:t>
            </a:r>
          </a:p>
          <a:p>
            <a:r>
              <a:rPr lang="en-IN" sz="1800" dirty="0"/>
              <a:t>Dataset Collection </a:t>
            </a:r>
          </a:p>
          <a:p>
            <a:r>
              <a:rPr lang="en-IN" sz="1800" dirty="0"/>
              <a:t>Data </a:t>
            </a:r>
            <a:r>
              <a:rPr lang="en-IN" sz="1800" dirty="0" err="1"/>
              <a:t>Preprocessing</a:t>
            </a:r>
            <a:r>
              <a:rPr lang="en-IN" sz="1800" dirty="0"/>
              <a:t> </a:t>
            </a:r>
          </a:p>
          <a:p>
            <a:r>
              <a:rPr lang="en-IN" sz="1800" dirty="0"/>
              <a:t>Model Development </a:t>
            </a:r>
          </a:p>
          <a:p>
            <a:r>
              <a:rPr lang="en-IN" sz="1800" dirty="0"/>
              <a:t>Model Training </a:t>
            </a:r>
          </a:p>
          <a:p>
            <a:r>
              <a:rPr lang="en-IN" sz="1800" dirty="0"/>
              <a:t>Model Evaluation </a:t>
            </a:r>
          </a:p>
          <a:p>
            <a:r>
              <a:rPr lang="en-IN" sz="1800" dirty="0"/>
              <a:t>Weather Prediction</a:t>
            </a:r>
          </a:p>
          <a:p>
            <a:pPr algn="just"/>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313958729"/>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99488-99BC-C640-BF36-02B6A6A75342}"/>
              </a:ext>
            </a:extLst>
          </p:cNvPr>
          <p:cNvSpPr>
            <a:spLocks noGrp="1"/>
          </p:cNvSpPr>
          <p:nvPr>
            <p:ph type="title"/>
          </p:nvPr>
        </p:nvSpPr>
        <p:spPr>
          <a:xfrm>
            <a:off x="838200" y="-390292"/>
            <a:ext cx="10515600" cy="1690688"/>
          </a:xfrm>
        </p:spPr>
        <p:txBody>
          <a:bodyPr/>
          <a:lstStyle/>
          <a:p>
            <a:r>
              <a:rPr lang="en-IN" b="1" dirty="0"/>
              <a:t>Implementation Process</a:t>
            </a:r>
            <a:endParaRPr lang="en-US" b="1" dirty="0"/>
          </a:p>
        </p:txBody>
      </p:sp>
      <p:sp>
        <p:nvSpPr>
          <p:cNvPr id="3" name="Content Placeholder 2">
            <a:extLst>
              <a:ext uri="{FF2B5EF4-FFF2-40B4-BE49-F238E27FC236}">
                <a16:creationId xmlns:a16="http://schemas.microsoft.com/office/drawing/2014/main" id="{D6D74092-BADB-5144-BA0F-0FAFFACA6B4A}"/>
              </a:ext>
            </a:extLst>
          </p:cNvPr>
          <p:cNvSpPr>
            <a:spLocks noGrp="1"/>
          </p:cNvSpPr>
          <p:nvPr>
            <p:ph idx="1"/>
          </p:nvPr>
        </p:nvSpPr>
        <p:spPr>
          <a:xfrm>
            <a:off x="801029" y="1003610"/>
            <a:ext cx="10515600" cy="4648124"/>
          </a:xfrm>
        </p:spPr>
        <p:txBody>
          <a:bodyPr/>
          <a:lstStyle/>
          <a:p>
            <a:r>
              <a:rPr lang="en-IN" sz="1400" b="1" dirty="0"/>
              <a:t>1. Dataset Collection</a:t>
            </a:r>
          </a:p>
          <a:p>
            <a:r>
              <a:rPr lang="en-IN" sz="1400" dirty="0"/>
              <a:t>Weather-Analysis dataset </a:t>
            </a:r>
          </a:p>
          <a:p>
            <a:r>
              <a:rPr lang="en-IN" sz="1400" dirty="0"/>
              <a:t>Four classes: Cloud, Rain, Shine, Sunrise </a:t>
            </a:r>
          </a:p>
          <a:p>
            <a:r>
              <a:rPr lang="en-IN" sz="1400" dirty="0"/>
              <a:t>Total images: 1123 </a:t>
            </a:r>
          </a:p>
          <a:p>
            <a:r>
              <a:rPr lang="en-IN" sz="1400" b="1" dirty="0"/>
              <a:t>2. Data </a:t>
            </a:r>
            <a:r>
              <a:rPr lang="en-IN" sz="1400" b="1" dirty="0" err="1"/>
              <a:t>Preprocessing</a:t>
            </a:r>
            <a:endParaRPr lang="en-IN" sz="1400" b="1" dirty="0"/>
          </a:p>
          <a:p>
            <a:r>
              <a:rPr lang="en-IN" sz="1400" dirty="0"/>
              <a:t>Images resized to </a:t>
            </a:r>
            <a:r>
              <a:rPr lang="en-IN" sz="1400" b="1" dirty="0"/>
              <a:t>224 × 224 pixels</a:t>
            </a:r>
            <a:r>
              <a:rPr lang="en-IN" sz="1400" dirty="0"/>
              <a:t> </a:t>
            </a:r>
          </a:p>
          <a:p>
            <a:r>
              <a:rPr lang="en-IN" sz="1400" dirty="0"/>
              <a:t>Dataset divided into: </a:t>
            </a:r>
          </a:p>
          <a:p>
            <a:pPr lvl="1"/>
            <a:r>
              <a:rPr lang="en-IN" sz="1400" b="1" dirty="0"/>
              <a:t>80% Training</a:t>
            </a:r>
            <a:r>
              <a:rPr lang="en-IN" sz="1400" dirty="0"/>
              <a:t> </a:t>
            </a:r>
          </a:p>
          <a:p>
            <a:pPr lvl="1"/>
            <a:r>
              <a:rPr lang="en-IN" sz="1400" b="1" dirty="0"/>
              <a:t>20% Validation</a:t>
            </a:r>
            <a:r>
              <a:rPr lang="en-IN" sz="1400" dirty="0"/>
              <a:t> </a:t>
            </a:r>
          </a:p>
          <a:p>
            <a:r>
              <a:rPr lang="en-IN" sz="1400" dirty="0"/>
              <a:t>Pixel values normalized </a:t>
            </a:r>
          </a:p>
          <a:p>
            <a:r>
              <a:rPr lang="en-IN" sz="1400" b="1" dirty="0"/>
              <a:t>3. Model Development</a:t>
            </a:r>
          </a:p>
          <a:p>
            <a:r>
              <a:rPr lang="en-IN" sz="1400" dirty="0"/>
              <a:t>Transfer Learning using </a:t>
            </a:r>
            <a:r>
              <a:rPr lang="en-IN" sz="1400" b="1" dirty="0"/>
              <a:t>MobileNetV2</a:t>
            </a:r>
            <a:r>
              <a:rPr lang="en-IN" sz="1400" dirty="0"/>
              <a:t> </a:t>
            </a:r>
          </a:p>
          <a:p>
            <a:r>
              <a:rPr lang="en-IN" sz="1400" dirty="0"/>
              <a:t>TensorFlow and </a:t>
            </a:r>
            <a:r>
              <a:rPr lang="en-IN" sz="1400" dirty="0" err="1"/>
              <a:t>Keras</a:t>
            </a:r>
            <a:r>
              <a:rPr lang="en-IN" sz="1400" dirty="0"/>
              <a:t> framework </a:t>
            </a:r>
          </a:p>
          <a:p>
            <a:r>
              <a:rPr lang="en-IN" sz="1400" dirty="0"/>
              <a:t>Added custom classification layers</a:t>
            </a:r>
          </a:p>
          <a:p>
            <a:endParaRPr lang="en-US" dirty="0"/>
          </a:p>
        </p:txBody>
      </p:sp>
      <p:sp>
        <p:nvSpPr>
          <p:cNvPr id="4" name="Slide Number Placeholder 3">
            <a:extLst>
              <a:ext uri="{FF2B5EF4-FFF2-40B4-BE49-F238E27FC236}">
                <a16:creationId xmlns:a16="http://schemas.microsoft.com/office/drawing/2014/main" id="{8FB4CF77-307E-B34D-9B7C-32668BD2C8A1}"/>
              </a:ext>
            </a:extLst>
          </p:cNvPr>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2307570111"/>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4425-E4D0-F34C-B221-37A2C98A7049}"/>
              </a:ext>
            </a:extLst>
          </p:cNvPr>
          <p:cNvSpPr>
            <a:spLocks noGrp="1"/>
          </p:cNvSpPr>
          <p:nvPr>
            <p:ph type="title"/>
          </p:nvPr>
        </p:nvSpPr>
        <p:spPr>
          <a:xfrm>
            <a:off x="838200" y="1"/>
            <a:ext cx="10515600" cy="1282389"/>
          </a:xfrm>
        </p:spPr>
        <p:txBody>
          <a:bodyPr/>
          <a:lstStyle/>
          <a:p>
            <a:r>
              <a:rPr lang="en-IN" b="1" dirty="0"/>
              <a:t>Training and Prediction</a:t>
            </a:r>
            <a:br>
              <a:rPr lang="en-IN" b="1" dirty="0"/>
            </a:br>
            <a:endParaRPr lang="en-US" dirty="0"/>
          </a:p>
        </p:txBody>
      </p:sp>
      <p:sp>
        <p:nvSpPr>
          <p:cNvPr id="3" name="Content Placeholder 2">
            <a:extLst>
              <a:ext uri="{FF2B5EF4-FFF2-40B4-BE49-F238E27FC236}">
                <a16:creationId xmlns:a16="http://schemas.microsoft.com/office/drawing/2014/main" id="{0A712C9E-13F0-0C42-B2EF-0A57D09C1DB2}"/>
              </a:ext>
            </a:extLst>
          </p:cNvPr>
          <p:cNvSpPr>
            <a:spLocks noGrp="1"/>
          </p:cNvSpPr>
          <p:nvPr>
            <p:ph idx="1"/>
          </p:nvPr>
        </p:nvSpPr>
        <p:spPr>
          <a:xfrm>
            <a:off x="838200" y="557561"/>
            <a:ext cx="10515600" cy="4626943"/>
          </a:xfrm>
        </p:spPr>
        <p:txBody>
          <a:bodyPr/>
          <a:lstStyle/>
          <a:p>
            <a:endParaRPr lang="en-IN" sz="1400" b="1" dirty="0"/>
          </a:p>
          <a:p>
            <a:r>
              <a:rPr lang="en-IN" sz="1400" b="1" dirty="0"/>
              <a:t>4. Model Training</a:t>
            </a:r>
          </a:p>
          <a:p>
            <a:r>
              <a:rPr lang="en-IN" sz="1400" dirty="0"/>
              <a:t>Optimizer: Adam </a:t>
            </a:r>
          </a:p>
          <a:p>
            <a:r>
              <a:rPr lang="en-IN" sz="1400" dirty="0"/>
              <a:t>Loss Function: Sparse Categorical </a:t>
            </a:r>
            <a:r>
              <a:rPr lang="en-IN" sz="1400" dirty="0" err="1"/>
              <a:t>Crossentropy</a:t>
            </a:r>
            <a:r>
              <a:rPr lang="en-IN" sz="1400" dirty="0"/>
              <a:t> </a:t>
            </a:r>
          </a:p>
          <a:p>
            <a:r>
              <a:rPr lang="en-IN" sz="1400" dirty="0"/>
              <a:t>Trained for multiple epochs </a:t>
            </a:r>
          </a:p>
          <a:p>
            <a:r>
              <a:rPr lang="en-IN" sz="1400" b="1" dirty="0"/>
              <a:t>5. Model Evaluation</a:t>
            </a:r>
          </a:p>
          <a:p>
            <a:r>
              <a:rPr lang="en-IN" sz="1400" dirty="0"/>
              <a:t>Validation Accuracy: </a:t>
            </a:r>
            <a:r>
              <a:rPr lang="en-IN" sz="1400" b="1" dirty="0"/>
              <a:t>≈ 92–93%</a:t>
            </a:r>
            <a:r>
              <a:rPr lang="en-IN" sz="1400" dirty="0"/>
              <a:t> </a:t>
            </a:r>
          </a:p>
          <a:p>
            <a:r>
              <a:rPr lang="en-IN" sz="1400" dirty="0"/>
              <a:t>Model performance evaluated using validation dataset </a:t>
            </a:r>
          </a:p>
          <a:p>
            <a:r>
              <a:rPr lang="en-IN" sz="1400" b="1" dirty="0"/>
              <a:t>6. Weather Prediction</a:t>
            </a:r>
          </a:p>
          <a:p>
            <a:r>
              <a:rPr lang="en-IN" sz="1400" dirty="0"/>
              <a:t>Upload a weather image </a:t>
            </a:r>
          </a:p>
          <a:p>
            <a:r>
              <a:rPr lang="en-IN" sz="1400" dirty="0"/>
              <a:t>Model extracts image features </a:t>
            </a:r>
          </a:p>
          <a:p>
            <a:r>
              <a:rPr lang="en-IN" sz="1400" dirty="0"/>
              <a:t>Predicts one of the four classes: </a:t>
            </a:r>
          </a:p>
          <a:p>
            <a:pPr lvl="1"/>
            <a:r>
              <a:rPr lang="en-IN" sz="1400" dirty="0"/>
              <a:t>Cloud </a:t>
            </a:r>
          </a:p>
          <a:p>
            <a:pPr lvl="1"/>
            <a:r>
              <a:rPr lang="en-IN" sz="1400" dirty="0"/>
              <a:t>Rain </a:t>
            </a:r>
          </a:p>
          <a:p>
            <a:pPr lvl="1"/>
            <a:r>
              <a:rPr lang="en-IN" sz="1400" dirty="0"/>
              <a:t>Shine </a:t>
            </a:r>
          </a:p>
          <a:p>
            <a:pPr lvl="1"/>
            <a:r>
              <a:rPr lang="en-IN" sz="1400" dirty="0"/>
              <a:t>Sunrise </a:t>
            </a:r>
          </a:p>
          <a:p>
            <a:endParaRPr lang="en-IN" dirty="0"/>
          </a:p>
          <a:p>
            <a:endParaRPr lang="en-US" dirty="0"/>
          </a:p>
        </p:txBody>
      </p:sp>
      <p:sp>
        <p:nvSpPr>
          <p:cNvPr id="4" name="Slide Number Placeholder 3">
            <a:extLst>
              <a:ext uri="{FF2B5EF4-FFF2-40B4-BE49-F238E27FC236}">
                <a16:creationId xmlns:a16="http://schemas.microsoft.com/office/drawing/2014/main" id="{418DE8E0-1E15-2C48-9E3B-10E448BF9014}"/>
              </a:ext>
            </a:extLst>
          </p:cNvPr>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623151935"/>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80223"/>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Results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3" name="Content Placeholder 2"/>
          <p:cNvSpPr>
            <a:spLocks noGrp="1"/>
          </p:cNvSpPr>
          <p:nvPr>
            <p:ph idx="1"/>
          </p:nvPr>
        </p:nvSpPr>
        <p:spPr>
          <a:xfrm>
            <a:off x="446308" y="680224"/>
            <a:ext cx="10515600" cy="4732411"/>
          </a:xfrm>
        </p:spPr>
        <p:txBody>
          <a:bodyPr/>
          <a:lstStyle/>
          <a:p>
            <a:r>
              <a:rPr lang="en-IN" sz="1200" b="1" dirty="0"/>
              <a:t>Project Outcome</a:t>
            </a:r>
          </a:p>
          <a:p>
            <a:r>
              <a:rPr lang="en-IN" sz="1200" dirty="0"/>
              <a:t>Successfully developed an AI-based Weather Detection System using </a:t>
            </a:r>
            <a:r>
              <a:rPr lang="en-IN" sz="1200" b="1" dirty="0"/>
              <a:t>MobileNetV2 Transfer Learning</a:t>
            </a:r>
            <a:r>
              <a:rPr lang="en-IN" sz="1200" dirty="0"/>
              <a:t>. </a:t>
            </a:r>
          </a:p>
          <a:p>
            <a:r>
              <a:rPr lang="en-IN" sz="1200" dirty="0"/>
              <a:t>The model accurately classified weather images into four categories: </a:t>
            </a:r>
          </a:p>
          <a:p>
            <a:pPr lvl="1"/>
            <a:r>
              <a:rPr lang="en-IN" sz="1200" dirty="0"/>
              <a:t>Cloud </a:t>
            </a:r>
          </a:p>
          <a:p>
            <a:pPr lvl="1"/>
            <a:r>
              <a:rPr lang="en-IN" sz="1200" dirty="0"/>
              <a:t>Rain </a:t>
            </a:r>
          </a:p>
          <a:p>
            <a:pPr lvl="1"/>
            <a:r>
              <a:rPr lang="en-IN" sz="1200" dirty="0"/>
              <a:t>Shine </a:t>
            </a:r>
          </a:p>
          <a:p>
            <a:pPr lvl="1"/>
            <a:r>
              <a:rPr lang="en-IN" sz="1200" dirty="0"/>
              <a:t>Sunrise </a:t>
            </a:r>
          </a:p>
          <a:p>
            <a:r>
              <a:rPr lang="en-IN" sz="1200" dirty="0"/>
              <a:t>Achieved a </a:t>
            </a:r>
            <a:r>
              <a:rPr lang="en-IN" sz="1200" b="1" dirty="0"/>
              <a:t>Validation Accuracy of approximately 92–93%</a:t>
            </a:r>
            <a:r>
              <a:rPr lang="en-IN" sz="1200" dirty="0"/>
              <a:t>. </a:t>
            </a:r>
          </a:p>
          <a:p>
            <a:r>
              <a:rPr lang="en-IN" sz="1200" dirty="0"/>
              <a:t>The trained model successfully predicted the correct weather class for test images from the dataset. </a:t>
            </a:r>
          </a:p>
          <a:p>
            <a:r>
              <a:rPr lang="en-IN" sz="1200" dirty="0"/>
              <a:t>A browser-based interface was implemented to allow users to upload an image and receive the predicted weather category with a confidence score. </a:t>
            </a:r>
          </a:p>
          <a:p>
            <a:r>
              <a:rPr lang="en-IN" sz="1200" b="1" dirty="0"/>
              <a:t>Performance Summary</a:t>
            </a:r>
          </a:p>
          <a:p>
            <a:r>
              <a:rPr lang="en-IN" sz="1200" b="1" dirty="0"/>
              <a:t>Model Used:</a:t>
            </a:r>
            <a:r>
              <a:rPr lang="en-IN" sz="1200" dirty="0"/>
              <a:t> MobileNetV2 </a:t>
            </a:r>
          </a:p>
          <a:p>
            <a:r>
              <a:rPr lang="en-IN" sz="1200" b="1" dirty="0"/>
              <a:t>Dataset Classes:</a:t>
            </a:r>
            <a:r>
              <a:rPr lang="en-IN" sz="1200" dirty="0"/>
              <a:t> 4 </a:t>
            </a:r>
          </a:p>
          <a:p>
            <a:r>
              <a:rPr lang="en-IN" sz="1200" b="1" dirty="0"/>
              <a:t>Validation Accuracy:</a:t>
            </a:r>
            <a:r>
              <a:rPr lang="en-IN" sz="1200" dirty="0"/>
              <a:t> ~92–93% </a:t>
            </a:r>
          </a:p>
          <a:p>
            <a:r>
              <a:rPr lang="en-IN" sz="1200" b="1" dirty="0"/>
              <a:t>Prediction Output:</a:t>
            </a:r>
            <a:r>
              <a:rPr lang="en-IN" sz="1200" dirty="0"/>
              <a:t> Weather class with confidence percentage</a:t>
            </a:r>
          </a:p>
          <a:p>
            <a:endParaRPr lang="en-US" sz="1400" dirty="0"/>
          </a:p>
        </p:txBody>
      </p:sp>
    </p:spTree>
    <p:extLst>
      <p:ext uri="{BB962C8B-B14F-4D97-AF65-F5344CB8AC3E}">
        <p14:creationId xmlns:p14="http://schemas.microsoft.com/office/powerpoint/2010/main" val="1163375810"/>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IN" dirty="0"/>
              <a:t>Successfully developed an AI-based </a:t>
            </a:r>
            <a:r>
              <a:rPr lang="en-IN" b="1" dirty="0"/>
              <a:t>Weather Detection System</a:t>
            </a:r>
            <a:r>
              <a:rPr lang="en-IN" dirty="0"/>
              <a:t> using </a:t>
            </a:r>
            <a:r>
              <a:rPr lang="en-IN" b="1" dirty="0"/>
              <a:t>MobileNetV2 Transfer Learning</a:t>
            </a:r>
            <a:r>
              <a:rPr lang="en-IN" dirty="0"/>
              <a:t>. The model was trained to classify weather images into </a:t>
            </a:r>
            <a:r>
              <a:rPr lang="en-IN" b="1" dirty="0"/>
              <a:t>Cloud, Rain, Shine, and Sunrise</a:t>
            </a:r>
            <a:r>
              <a:rPr lang="en-IN" dirty="0"/>
              <a:t> categories. Achieved a </a:t>
            </a:r>
            <a:r>
              <a:rPr lang="en-IN" b="1" dirty="0"/>
              <a:t>validation accuracy of approximately 92–93%</a:t>
            </a:r>
            <a:r>
              <a:rPr lang="en-IN" dirty="0"/>
              <a:t>, demonstrating good classification performance. Gained practical knowledge of </a:t>
            </a:r>
            <a:r>
              <a:rPr lang="en-IN" b="1" dirty="0"/>
              <a:t>Artificial Intelligence, Deep Learning, Transfer Learning, TensorFlow, and </a:t>
            </a:r>
            <a:r>
              <a:rPr lang="en-IN" b="1" dirty="0" err="1"/>
              <a:t>Keras</a:t>
            </a:r>
            <a:r>
              <a:rPr lang="en-IN" dirty="0"/>
              <a:t> during the internship. The project demonstrated how AI can be effectively used for automated weather image classification and can be extended for real-world weather monitoring applications.</a:t>
            </a:r>
            <a:endParaRPr lang="en-US" dirty="0"/>
          </a:p>
        </p:txBody>
      </p:sp>
    </p:spTree>
    <p:extLst>
      <p:ext uri="{BB962C8B-B14F-4D97-AF65-F5344CB8AC3E}">
        <p14:creationId xmlns:p14="http://schemas.microsoft.com/office/powerpoint/2010/main" val="3437392139"/>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12</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975439"/>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798440382"/>
      </p:ext>
    </p:extLst>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9374</TotalTime>
  <Words>844</Words>
  <Application>Microsoft Macintosh PowerPoint</Application>
  <PresentationFormat>Widescreen</PresentationFormat>
  <Paragraphs>146</Paragraphs>
  <Slides>13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About Company or Organization</vt:lpstr>
      <vt:lpstr>Products, Services and Industry Collaboration </vt:lpstr>
      <vt:lpstr>Working domain or the technology</vt:lpstr>
      <vt:lpstr>Objectives of the work</vt:lpstr>
      <vt:lpstr>Methodology Used </vt:lpstr>
      <vt:lpstr>Implementation Process</vt:lpstr>
      <vt:lpstr>Training and Prediction </vt:lpstr>
      <vt:lpstr>Results </vt:lpstr>
      <vt:lpstr>Conclusion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Microsoft Office User</cp:lastModifiedBy>
  <cp:revision>947</cp:revision>
  <cp:lastPrinted>2018-07-24T06:37:20Z</cp:lastPrinted>
  <dcterms:created xsi:type="dcterms:W3CDTF">2018-06-07T04:06:17Z</dcterms:created>
  <dcterms:modified xsi:type="dcterms:W3CDTF">2026-08-07T15:58:49Z</dcterms:modified>
</cp:coreProperties>
</file>